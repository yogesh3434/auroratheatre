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Merriweather" pitchFamily="2" charset="77"/>
      <p:regular r:id="rId14"/>
      <p:bold r:id="rId15"/>
      <p:italic r:id="rId16"/>
      <p:boldItalic r:id="rId17"/>
    </p:embeddedFont>
    <p:embeddedFont>
      <p:font typeface="Roboto" panose="02000000000000000000" pitchFamily="2" charset="0"/>
      <p:regular r:id="rId18"/>
      <p:bold r:id="rId19"/>
      <p:italic r:id="rId20"/>
      <p:boldItalic r:id="rId21"/>
    </p:embeddedFont>
    <p:embeddedFont>
      <p:font typeface="Roboto Light" panose="020000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726"/>
  </p:normalViewPr>
  <p:slideViewPr>
    <p:cSldViewPr snapToGrid="0">
      <p:cViewPr varScale="1">
        <p:scale>
          <a:sx n="163" d="100"/>
          <a:sy n="163" d="100"/>
        </p:scale>
        <p:origin x="184" y="2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aefcffb69b_0_3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aefcffb69b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aefcffb69b_0_3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aefcffb69b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efcffb69b_0_3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efcffb69b_0_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af4b29c4d4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af4b29c4d4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af4b29c4d4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af4b29c4d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af4b29c4d4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af4b29c4d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af4b29c4d4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af4b29c4d4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af4b29c4d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af4b29c4d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af4b29c4d4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af4b29c4d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af4b29c4d4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af4b29c4d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1">
  <p:cSld name="Title slide 1">
    <p:bg>
      <p:bgPr>
        <a:solidFill>
          <a:schemeClr val="dk1"/>
        </a:solidFill>
        <a:effectLst/>
      </p:bgPr>
    </p:bg>
    <p:spTree>
      <p:nvGrpSpPr>
        <p:cNvPr id="1" name="Shape 60"/>
        <p:cNvGrpSpPr/>
        <p:nvPr/>
      </p:nvGrpSpPr>
      <p:grpSpPr>
        <a:xfrm>
          <a:off x="0" y="0"/>
          <a:ext cx="0" cy="0"/>
          <a:chOff x="0" y="0"/>
          <a:chExt cx="0" cy="0"/>
        </a:xfrm>
      </p:grpSpPr>
      <p:sp>
        <p:nvSpPr>
          <p:cNvPr id="61" name="Google Shape;61;p13"/>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62" name="Google Shape;62;p13"/>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63" name="Google Shape;6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1">
  <p:cSld name="Title and body 1">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6" name="Google Shape;66;p1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7" name="Google Shape;6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2">
  <p:cSld name="Title and body 2">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70" name="Google Shape;70;p15"/>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71" name="Google Shape;7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3">
  <p:cSld name="Title and body 3">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74" name="Google Shape;74;p16"/>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75" name="Google Shape;75;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
        <p:cNvGrpSpPr/>
        <p:nvPr/>
      </p:nvGrpSpPr>
      <p:grpSpPr>
        <a:xfrm>
          <a:off x="0" y="0"/>
          <a:ext cx="0" cy="0"/>
          <a:chOff x="0" y="0"/>
          <a:chExt cx="0" cy="0"/>
        </a:xfrm>
      </p:grpSpPr>
      <p:sp>
        <p:nvSpPr>
          <p:cNvPr id="80" name="Google Shape;80;p17"/>
          <p:cNvSpPr/>
          <p:nvPr/>
        </p:nvSpPr>
        <p:spPr>
          <a:xfrm>
            <a:off x="0" y="3429000"/>
            <a:ext cx="9144000" cy="1714500"/>
          </a:xfrm>
          <a:prstGeom prst="rect">
            <a:avLst/>
          </a:prstGeom>
          <a:solidFill>
            <a:srgbClr val="31394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81" name="Google Shape;81;p17"/>
          <p:cNvGrpSpPr/>
          <p:nvPr/>
        </p:nvGrpSpPr>
        <p:grpSpPr>
          <a:xfrm>
            <a:off x="762000" y="952500"/>
            <a:ext cx="7620000" cy="3810000"/>
            <a:chOff x="762000" y="952500"/>
            <a:chExt cx="7620000" cy="3810000"/>
          </a:xfrm>
        </p:grpSpPr>
        <p:sp>
          <p:nvSpPr>
            <p:cNvPr id="82" name="Google Shape;82;p17"/>
            <p:cNvSpPr/>
            <p:nvPr/>
          </p:nvSpPr>
          <p:spPr>
            <a:xfrm>
              <a:off x="4286250" y="2286000"/>
              <a:ext cx="571500" cy="38100"/>
            </a:xfrm>
            <a:prstGeom prst="rect">
              <a:avLst/>
            </a:prstGeom>
            <a:solidFill>
              <a:srgbClr val="002F4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 name="Google Shape;83;p17"/>
            <p:cNvSpPr txBox="1"/>
            <p:nvPr/>
          </p:nvSpPr>
          <p:spPr>
            <a:xfrm>
              <a:off x="762000" y="952500"/>
              <a:ext cx="7620000" cy="1143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4590" b="1">
                  <a:solidFill>
                    <a:srgbClr val="002F4A"/>
                  </a:solidFill>
                  <a:latin typeface="Merriweather"/>
                  <a:ea typeface="Merriweather"/>
                  <a:cs typeface="Merriweather"/>
                  <a:sym typeface="Merriweather"/>
                </a:rPr>
                <a:t>Entrepreneurism in India</a:t>
              </a:r>
              <a:endParaRPr sz="4590" b="1">
                <a:solidFill>
                  <a:srgbClr val="002F4A"/>
                </a:solidFill>
                <a:latin typeface="Merriweather"/>
                <a:ea typeface="Merriweather"/>
                <a:cs typeface="Merriweather"/>
                <a:sym typeface="Merriweather"/>
              </a:endParaRPr>
            </a:p>
          </p:txBody>
        </p:sp>
        <p:sp>
          <p:nvSpPr>
            <p:cNvPr id="84" name="Google Shape;84;p17"/>
            <p:cNvSpPr txBox="1"/>
            <p:nvPr/>
          </p:nvSpPr>
          <p:spPr>
            <a:xfrm>
              <a:off x="762000" y="3619500"/>
              <a:ext cx="7620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400" b="0">
                  <a:solidFill>
                    <a:srgbClr val="E2E8F0"/>
                  </a:solidFill>
                  <a:latin typeface="Roboto"/>
                  <a:ea typeface="Roboto"/>
                  <a:cs typeface="Roboto"/>
                  <a:sym typeface="Roboto"/>
                </a:rPr>
                <a:t>Submitted to: </a:t>
              </a:r>
              <a:r>
                <a:rPr lang="en" sz="1400" b="1">
                  <a:solidFill>
                    <a:srgbClr val="FFFFFF"/>
                  </a:solidFill>
                  <a:latin typeface="Roboto"/>
                  <a:ea typeface="Roboto"/>
                  <a:cs typeface="Roboto"/>
                  <a:sym typeface="Roboto"/>
                </a:rPr>
                <a:t>Ian Garrett</a:t>
              </a:r>
              <a:endParaRPr sz="1400" b="0">
                <a:solidFill>
                  <a:srgbClr val="E2E8F0"/>
                </a:solidFill>
                <a:latin typeface="Roboto"/>
                <a:ea typeface="Roboto"/>
                <a:cs typeface="Roboto"/>
                <a:sym typeface="Roboto"/>
              </a:endParaRPr>
            </a:p>
          </p:txBody>
        </p:sp>
        <p:sp>
          <p:nvSpPr>
            <p:cNvPr id="85" name="Google Shape;85;p17"/>
            <p:cNvSpPr txBox="1"/>
            <p:nvPr/>
          </p:nvSpPr>
          <p:spPr>
            <a:xfrm>
              <a:off x="762000" y="4191000"/>
              <a:ext cx="7620000" cy="571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0">
                  <a:solidFill>
                    <a:srgbClr val="CBD5E1"/>
                  </a:solidFill>
                  <a:latin typeface="Roboto Light"/>
                  <a:ea typeface="Roboto Light"/>
                  <a:cs typeface="Roboto Light"/>
                  <a:sym typeface="Roboto Light"/>
                </a:rPr>
                <a:t>Submitted By: </a:t>
              </a:r>
              <a:r>
                <a:rPr lang="en" sz="1200" b="0">
                  <a:solidFill>
                    <a:srgbClr val="FFFFFF"/>
                  </a:solidFill>
                  <a:latin typeface="Roboto"/>
                  <a:ea typeface="Roboto"/>
                  <a:cs typeface="Roboto"/>
                  <a:sym typeface="Roboto"/>
                </a:rPr>
                <a:t>Yogesh Sharma</a:t>
              </a:r>
              <a:endParaRPr sz="1200" b="0">
                <a:solidFill>
                  <a:srgbClr val="CBD5E1"/>
                </a:solidFill>
                <a:latin typeface="Roboto Light"/>
                <a:ea typeface="Roboto Light"/>
                <a:cs typeface="Roboto Light"/>
                <a:sym typeface="Roboto Light"/>
              </a:endParaRPr>
            </a:p>
            <a:p>
              <a:pPr marL="0" lvl="0" indent="0" algn="ctr" rtl="0">
                <a:spcBef>
                  <a:spcPts val="300"/>
                </a:spcBef>
                <a:spcAft>
                  <a:spcPts val="0"/>
                </a:spcAft>
                <a:buNone/>
              </a:pPr>
              <a:r>
                <a:rPr lang="en" sz="1200" b="0">
                  <a:solidFill>
                    <a:srgbClr val="CBD5E1"/>
                  </a:solidFill>
                  <a:latin typeface="Roboto Light"/>
                  <a:ea typeface="Roboto Light"/>
                  <a:cs typeface="Roboto Light"/>
                  <a:sym typeface="Roboto Light"/>
                </a:rPr>
                <a:t>Student #220139598</a:t>
              </a:r>
              <a:endParaRPr sz="1200" b="0">
                <a:solidFill>
                  <a:srgbClr val="CBD5E1"/>
                </a:solidFill>
                <a:latin typeface="Roboto Light"/>
                <a:ea typeface="Roboto Light"/>
                <a:cs typeface="Roboto Light"/>
                <a:sym typeface="Roboto Light"/>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169800" y="500925"/>
            <a:ext cx="3926700" cy="440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91" name="Google Shape;91;p18"/>
          <p:cNvSpPr txBox="1">
            <a:spLocks noGrp="1"/>
          </p:cNvSpPr>
          <p:nvPr>
            <p:ph type="body" idx="1"/>
          </p:nvPr>
        </p:nvSpPr>
        <p:spPr>
          <a:xfrm>
            <a:off x="4644675" y="197625"/>
            <a:ext cx="4166400" cy="470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purpose of this presentation is to do a case about factors which are promoting/ hindering entrepreneurism in India, which is still a developing country. </a:t>
            </a:r>
            <a:endParaRPr/>
          </a:p>
          <a:p>
            <a:pPr marL="0" lvl="0" indent="0" algn="l" rtl="0">
              <a:spcBef>
                <a:spcPts val="1600"/>
              </a:spcBef>
              <a:spcAft>
                <a:spcPts val="1600"/>
              </a:spcAft>
              <a:buNone/>
            </a:pPr>
            <a:r>
              <a:rPr lang="en"/>
              <a:t>This presentation will cover two factors. First, social factors and economic factors. How economic and social factors impact entrepreneurism in India.</a:t>
            </a:r>
            <a:endParaRPr/>
          </a:p>
        </p:txBody>
      </p:sp>
      <p:pic>
        <p:nvPicPr>
          <p:cNvPr id="92" name="Google Shape;92;p18"/>
          <p:cNvPicPr preferRelativeResize="0"/>
          <p:nvPr/>
        </p:nvPicPr>
        <p:blipFill>
          <a:blip r:embed="rId3">
            <a:alphaModFix/>
          </a:blip>
          <a:stretch>
            <a:fillRect/>
          </a:stretch>
        </p:blipFill>
        <p:spPr>
          <a:xfrm>
            <a:off x="5873825" y="2469400"/>
            <a:ext cx="1603600" cy="18922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6"/>
        <p:cNvGrpSpPr/>
        <p:nvPr/>
      </p:nvGrpSpPr>
      <p:grpSpPr>
        <a:xfrm>
          <a:off x="0" y="0"/>
          <a:ext cx="0" cy="0"/>
          <a:chOff x="0" y="0"/>
          <a:chExt cx="0" cy="0"/>
        </a:xfrm>
      </p:grpSpPr>
      <p:sp>
        <p:nvSpPr>
          <p:cNvPr id="97" name="Google Shape;97;p19"/>
          <p:cNvSpPr/>
          <p:nvPr/>
        </p:nvSpPr>
        <p:spPr>
          <a:xfrm>
            <a:off x="0" y="0"/>
            <a:ext cx="9144000" cy="1143000"/>
          </a:xfrm>
          <a:prstGeom prst="rect">
            <a:avLst/>
          </a:prstGeom>
          <a:solidFill>
            <a:srgbClr val="31394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8" name="Google Shape;98;p19"/>
          <p:cNvSpPr txBox="1">
            <a:spLocks noGrp="1"/>
          </p:cNvSpPr>
          <p:nvPr>
            <p:ph type="title"/>
          </p:nvPr>
        </p:nvSpPr>
        <p:spPr>
          <a:xfrm>
            <a:off x="285750" y="190500"/>
            <a:ext cx="8572500" cy="762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3200" b="1">
                <a:solidFill>
                  <a:srgbClr val="FFFFFF"/>
                </a:solidFill>
                <a:latin typeface="Merriweather"/>
                <a:ea typeface="Merriweather"/>
                <a:cs typeface="Merriweather"/>
                <a:sym typeface="Merriweather"/>
              </a:rPr>
              <a:t>Human Development Index (HDI)</a:t>
            </a:r>
            <a:endParaRPr sz="3200" b="1">
              <a:solidFill>
                <a:srgbClr val="FFFFFF"/>
              </a:solidFill>
              <a:latin typeface="Merriweather"/>
              <a:ea typeface="Merriweather"/>
              <a:cs typeface="Merriweather"/>
              <a:sym typeface="Merriweather"/>
            </a:endParaRPr>
          </a:p>
        </p:txBody>
      </p:sp>
      <p:grpSp>
        <p:nvGrpSpPr>
          <p:cNvPr id="99" name="Google Shape;99;p19"/>
          <p:cNvGrpSpPr/>
          <p:nvPr/>
        </p:nvGrpSpPr>
        <p:grpSpPr>
          <a:xfrm>
            <a:off x="381000" y="1333500"/>
            <a:ext cx="4000500" cy="1524000"/>
            <a:chOff x="381000" y="1333500"/>
            <a:chExt cx="4000500" cy="1524000"/>
          </a:xfrm>
        </p:grpSpPr>
        <p:sp>
          <p:nvSpPr>
            <p:cNvPr id="100" name="Google Shape;100;p19"/>
            <p:cNvSpPr/>
            <p:nvPr/>
          </p:nvSpPr>
          <p:spPr>
            <a:xfrm>
              <a:off x="381000" y="1333500"/>
              <a:ext cx="4000500" cy="1524000"/>
            </a:xfrm>
            <a:prstGeom prst="roundRect">
              <a:avLst>
                <a:gd name="adj" fmla="val 75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 name="Google Shape;101;p19"/>
            <p:cNvSpPr txBox="1"/>
            <p:nvPr/>
          </p:nvSpPr>
          <p:spPr>
            <a:xfrm>
              <a:off x="571500" y="1476375"/>
              <a:ext cx="3619500" cy="1238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400" b="1">
                  <a:solidFill>
                    <a:srgbClr val="31394D"/>
                  </a:solidFill>
                  <a:latin typeface="Roboto"/>
                  <a:ea typeface="Roboto"/>
                  <a:cs typeface="Roboto"/>
                  <a:sym typeface="Roboto"/>
                </a:rPr>
                <a:t>What is HDI?</a:t>
              </a:r>
              <a:endParaRPr sz="1400" b="1">
                <a:solidFill>
                  <a:srgbClr val="31394D"/>
                </a:solidFill>
                <a:latin typeface="Roboto"/>
                <a:ea typeface="Roboto"/>
                <a:cs typeface="Roboto"/>
                <a:sym typeface="Roboto"/>
              </a:endParaRPr>
            </a:p>
            <a:p>
              <a:pPr marL="0" lvl="0" indent="0" algn="l" rtl="0">
                <a:spcBef>
                  <a:spcPts val="600"/>
                </a:spcBef>
                <a:spcAft>
                  <a:spcPts val="0"/>
                </a:spcAft>
                <a:buNone/>
              </a:pPr>
              <a:r>
                <a:rPr lang="en" sz="1100">
                  <a:solidFill>
                    <a:srgbClr val="64748B"/>
                  </a:solidFill>
                  <a:latin typeface="Roboto"/>
                  <a:ea typeface="Roboto"/>
                  <a:cs typeface="Roboto"/>
                  <a:sym typeface="Roboto"/>
                </a:rPr>
                <a:t>HDI is a metric developed by the United Nations to measure the growth and well-being of citizens within a country.</a:t>
              </a:r>
              <a:endParaRPr sz="1100">
                <a:solidFill>
                  <a:srgbClr val="64748B"/>
                </a:solidFill>
                <a:latin typeface="Roboto"/>
                <a:ea typeface="Roboto"/>
                <a:cs typeface="Roboto"/>
                <a:sym typeface="Roboto"/>
              </a:endParaRPr>
            </a:p>
          </p:txBody>
        </p:sp>
      </p:grpSp>
      <p:grpSp>
        <p:nvGrpSpPr>
          <p:cNvPr id="102" name="Google Shape;102;p19"/>
          <p:cNvGrpSpPr/>
          <p:nvPr/>
        </p:nvGrpSpPr>
        <p:grpSpPr>
          <a:xfrm>
            <a:off x="4762500" y="1112127"/>
            <a:ext cx="4000500" cy="1653845"/>
            <a:chOff x="4762500" y="1249080"/>
            <a:chExt cx="4000500" cy="1524000"/>
          </a:xfrm>
        </p:grpSpPr>
        <p:sp>
          <p:nvSpPr>
            <p:cNvPr id="103" name="Google Shape;103;p19"/>
            <p:cNvSpPr/>
            <p:nvPr/>
          </p:nvSpPr>
          <p:spPr>
            <a:xfrm>
              <a:off x="4762500" y="1249080"/>
              <a:ext cx="4000500" cy="1524000"/>
            </a:xfrm>
            <a:prstGeom prst="roundRect">
              <a:avLst>
                <a:gd name="adj" fmla="val 75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4" name="Google Shape;104;p19"/>
            <p:cNvSpPr txBox="1"/>
            <p:nvPr/>
          </p:nvSpPr>
          <p:spPr>
            <a:xfrm>
              <a:off x="4953000" y="1476364"/>
              <a:ext cx="3619500" cy="121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400" b="1">
                  <a:solidFill>
                    <a:srgbClr val="31394D"/>
                  </a:solidFill>
                  <a:latin typeface="Roboto"/>
                  <a:ea typeface="Roboto"/>
                  <a:cs typeface="Roboto"/>
                  <a:sym typeface="Roboto"/>
                </a:rPr>
                <a:t>India's Global Standing</a:t>
              </a:r>
              <a:endParaRPr sz="1400" b="1">
                <a:solidFill>
                  <a:srgbClr val="31394D"/>
                </a:solidFill>
                <a:latin typeface="Roboto"/>
                <a:ea typeface="Roboto"/>
                <a:cs typeface="Roboto"/>
                <a:sym typeface="Roboto"/>
              </a:endParaRPr>
            </a:p>
            <a:p>
              <a:pPr marL="0" lvl="0" indent="0" algn="l" rtl="0">
                <a:spcBef>
                  <a:spcPts val="300"/>
                </a:spcBef>
                <a:spcAft>
                  <a:spcPts val="0"/>
                </a:spcAft>
                <a:buNone/>
              </a:pPr>
              <a:r>
                <a:rPr lang="en" sz="2800" b="1">
                  <a:solidFill>
                    <a:srgbClr val="31394D"/>
                  </a:solidFill>
                  <a:latin typeface="Roboto"/>
                  <a:ea typeface="Roboto"/>
                  <a:cs typeface="Roboto"/>
                  <a:sym typeface="Roboto"/>
                </a:rPr>
                <a:t>129</a:t>
              </a:r>
              <a:r>
                <a:rPr lang="en" sz="1400" b="0">
                  <a:solidFill>
                    <a:srgbClr val="64748B"/>
                  </a:solidFill>
                  <a:latin typeface="Roboto"/>
                  <a:ea typeface="Roboto"/>
                  <a:cs typeface="Roboto"/>
                  <a:sym typeface="Roboto"/>
                </a:rPr>
                <a:t> / 189 countries</a:t>
              </a:r>
              <a:endParaRPr sz="2800" b="1">
                <a:solidFill>
                  <a:srgbClr val="31394D"/>
                </a:solidFill>
                <a:latin typeface="Roboto"/>
                <a:ea typeface="Roboto"/>
                <a:cs typeface="Roboto"/>
                <a:sym typeface="Roboto"/>
              </a:endParaRPr>
            </a:p>
            <a:p>
              <a:pPr marL="0" lvl="0" indent="0" algn="l" rtl="0">
                <a:spcBef>
                  <a:spcPts val="300"/>
                </a:spcBef>
                <a:spcAft>
                  <a:spcPts val="0"/>
                </a:spcAft>
                <a:buNone/>
              </a:pPr>
              <a:r>
                <a:rPr lang="en" sz="1100">
                  <a:solidFill>
                    <a:srgbClr val="64748B"/>
                  </a:solidFill>
                  <a:latin typeface="Roboto"/>
                  <a:ea typeface="Roboto"/>
                  <a:cs typeface="Roboto"/>
                  <a:sym typeface="Roboto"/>
                </a:rPr>
                <a:t>India is ranked 129th globally in terms of Human Development.</a:t>
              </a:r>
              <a:endParaRPr sz="1100">
                <a:solidFill>
                  <a:srgbClr val="64748B"/>
                </a:solidFill>
                <a:latin typeface="Roboto"/>
                <a:ea typeface="Roboto"/>
                <a:cs typeface="Roboto"/>
                <a:sym typeface="Roboto"/>
              </a:endParaRPr>
            </a:p>
          </p:txBody>
        </p:sp>
      </p:grpSp>
      <p:grpSp>
        <p:nvGrpSpPr>
          <p:cNvPr id="105" name="Google Shape;105;p19"/>
          <p:cNvGrpSpPr/>
          <p:nvPr/>
        </p:nvGrpSpPr>
        <p:grpSpPr>
          <a:xfrm>
            <a:off x="381000" y="3048000"/>
            <a:ext cx="4000500" cy="1714500"/>
            <a:chOff x="381000" y="3048000"/>
            <a:chExt cx="4000500" cy="1714500"/>
          </a:xfrm>
        </p:grpSpPr>
        <p:sp>
          <p:nvSpPr>
            <p:cNvPr id="106" name="Google Shape;106;p19"/>
            <p:cNvSpPr/>
            <p:nvPr/>
          </p:nvSpPr>
          <p:spPr>
            <a:xfrm>
              <a:off x="381000" y="3048000"/>
              <a:ext cx="4000500" cy="1714500"/>
            </a:xfrm>
            <a:prstGeom prst="roundRect">
              <a:avLst>
                <a:gd name="adj" fmla="val 6666"/>
              </a:avLst>
            </a:prstGeom>
            <a:solidFill>
              <a:srgbClr val="31394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7" name="Google Shape;107;p19"/>
            <p:cNvSpPr txBox="1"/>
            <p:nvPr/>
          </p:nvSpPr>
          <p:spPr>
            <a:xfrm>
              <a:off x="619125" y="3238500"/>
              <a:ext cx="3524400" cy="13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200">
                  <a:solidFill>
                    <a:srgbClr val="CBD5E1"/>
                  </a:solidFill>
                  <a:latin typeface="Roboto"/>
                  <a:ea typeface="Roboto"/>
                  <a:cs typeface="Roboto"/>
                  <a:sym typeface="Roboto"/>
                </a:rPr>
                <a:t>Current HDI Value</a:t>
              </a:r>
              <a:endParaRPr sz="1200">
                <a:solidFill>
                  <a:srgbClr val="CBD5E1"/>
                </a:solidFill>
                <a:latin typeface="Roboto"/>
                <a:ea typeface="Roboto"/>
                <a:cs typeface="Roboto"/>
                <a:sym typeface="Roboto"/>
              </a:endParaRPr>
            </a:p>
            <a:p>
              <a:pPr marL="0" lvl="0" indent="0" algn="l" rtl="0">
                <a:spcBef>
                  <a:spcPts val="750"/>
                </a:spcBef>
                <a:spcAft>
                  <a:spcPts val="0"/>
                </a:spcAft>
                <a:buNone/>
              </a:pPr>
              <a:r>
                <a:rPr lang="en" sz="3600" b="1">
                  <a:solidFill>
                    <a:srgbClr val="FFFFFF"/>
                  </a:solidFill>
                  <a:latin typeface="Roboto"/>
                  <a:ea typeface="Roboto"/>
                  <a:cs typeface="Roboto"/>
                  <a:sym typeface="Roboto"/>
                </a:rPr>
                <a:t>0.647 – 0.660</a:t>
              </a:r>
              <a:endParaRPr sz="3600" b="1">
                <a:solidFill>
                  <a:srgbClr val="FFFFFF"/>
                </a:solidFill>
                <a:latin typeface="Roboto"/>
                <a:ea typeface="Roboto"/>
                <a:cs typeface="Roboto"/>
                <a:sym typeface="Roboto"/>
              </a:endParaRPr>
            </a:p>
            <a:p>
              <a:pPr marL="0" lvl="0" indent="0" algn="l" rtl="0">
                <a:spcBef>
                  <a:spcPts val="750"/>
                </a:spcBef>
                <a:spcAft>
                  <a:spcPts val="0"/>
                </a:spcAft>
                <a:buNone/>
              </a:pPr>
              <a:r>
                <a:rPr lang="en" sz="1000">
                  <a:solidFill>
                    <a:srgbClr val="94A3B8"/>
                  </a:solidFill>
                  <a:latin typeface="Roboto"/>
                  <a:ea typeface="Roboto"/>
                  <a:cs typeface="Roboto"/>
                  <a:sym typeface="Roboto"/>
                </a:rPr>
                <a:t>A measure of life expectancy, education, and per capita income.</a:t>
              </a:r>
              <a:endParaRPr sz="1000">
                <a:solidFill>
                  <a:srgbClr val="94A3B8"/>
                </a:solidFill>
                <a:latin typeface="Roboto"/>
                <a:ea typeface="Roboto"/>
                <a:cs typeface="Roboto"/>
                <a:sym typeface="Roboto"/>
              </a:endParaRPr>
            </a:p>
          </p:txBody>
        </p:sp>
      </p:grpSp>
      <p:pic>
        <p:nvPicPr>
          <p:cNvPr id="108" name="Google Shape;108;p19"/>
          <p:cNvPicPr preferRelativeResize="0"/>
          <p:nvPr/>
        </p:nvPicPr>
        <p:blipFill rotWithShape="1">
          <a:blip r:embed="rId4">
            <a:alphaModFix/>
          </a:blip>
          <a:srcRect t="15669" b="15669"/>
          <a:stretch/>
        </p:blipFill>
        <p:spPr>
          <a:xfrm>
            <a:off x="4762500" y="2857500"/>
            <a:ext cx="4227600" cy="2286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2"/>
        <p:cNvGrpSpPr/>
        <p:nvPr/>
      </p:nvGrpSpPr>
      <p:grpSpPr>
        <a:xfrm>
          <a:off x="0" y="0"/>
          <a:ext cx="0" cy="0"/>
          <a:chOff x="0" y="0"/>
          <a:chExt cx="0" cy="0"/>
        </a:xfrm>
      </p:grpSpPr>
      <p:sp>
        <p:nvSpPr>
          <p:cNvPr id="113" name="Google Shape;113;p20"/>
          <p:cNvSpPr/>
          <p:nvPr/>
        </p:nvSpPr>
        <p:spPr>
          <a:xfrm>
            <a:off x="0" y="0"/>
            <a:ext cx="9144000" cy="1143000"/>
          </a:xfrm>
          <a:prstGeom prst="rect">
            <a:avLst/>
          </a:prstGeom>
          <a:solidFill>
            <a:srgbClr val="31394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4" name="Google Shape;114;p20"/>
          <p:cNvSpPr txBox="1"/>
          <p:nvPr/>
        </p:nvSpPr>
        <p:spPr>
          <a:xfrm>
            <a:off x="381000" y="0"/>
            <a:ext cx="8382000" cy="1143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3200" b="1">
                <a:solidFill>
                  <a:srgbClr val="FFFFFF"/>
                </a:solidFill>
                <a:latin typeface="Merriweather"/>
                <a:ea typeface="Merriweather"/>
                <a:cs typeface="Merriweather"/>
                <a:sym typeface="Merriweather"/>
              </a:rPr>
              <a:t>GDP (Gross Domestic Product)</a:t>
            </a:r>
            <a:endParaRPr sz="3200" b="1">
              <a:solidFill>
                <a:srgbClr val="FFFFFF"/>
              </a:solidFill>
              <a:latin typeface="Merriweather"/>
              <a:ea typeface="Merriweather"/>
              <a:cs typeface="Merriweather"/>
              <a:sym typeface="Merriweather"/>
            </a:endParaRPr>
          </a:p>
        </p:txBody>
      </p:sp>
      <p:grpSp>
        <p:nvGrpSpPr>
          <p:cNvPr id="115" name="Google Shape;115;p20"/>
          <p:cNvGrpSpPr/>
          <p:nvPr/>
        </p:nvGrpSpPr>
        <p:grpSpPr>
          <a:xfrm>
            <a:off x="381000" y="1333500"/>
            <a:ext cx="4095900" cy="1524000"/>
            <a:chOff x="381000" y="1333500"/>
            <a:chExt cx="4095900" cy="1524000"/>
          </a:xfrm>
        </p:grpSpPr>
        <p:sp>
          <p:nvSpPr>
            <p:cNvPr id="116" name="Google Shape;116;p20"/>
            <p:cNvSpPr/>
            <p:nvPr/>
          </p:nvSpPr>
          <p:spPr>
            <a:xfrm>
              <a:off x="381000" y="1333500"/>
              <a:ext cx="4095900" cy="1524000"/>
            </a:xfrm>
            <a:prstGeom prst="roundRect">
              <a:avLst>
                <a:gd name="adj" fmla="val 75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7" name="Google Shape;117;p20"/>
            <p:cNvSpPr txBox="1"/>
            <p:nvPr/>
          </p:nvSpPr>
          <p:spPr>
            <a:xfrm>
              <a:off x="571500" y="1476375"/>
              <a:ext cx="3714900" cy="1238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400" b="1">
                  <a:solidFill>
                    <a:srgbClr val="31394D"/>
                  </a:solidFill>
                  <a:latin typeface="Roboto"/>
                  <a:ea typeface="Roboto"/>
                  <a:cs typeface="Roboto"/>
                  <a:sym typeface="Roboto"/>
                </a:rPr>
                <a:t>Global Ranking</a:t>
              </a:r>
              <a:endParaRPr sz="1400" b="1">
                <a:solidFill>
                  <a:srgbClr val="31394D"/>
                </a:solidFill>
                <a:latin typeface="Roboto"/>
                <a:ea typeface="Roboto"/>
                <a:cs typeface="Roboto"/>
                <a:sym typeface="Roboto"/>
              </a:endParaRPr>
            </a:p>
            <a:p>
              <a:pPr marL="0" lvl="0" indent="0" algn="l" rtl="0">
                <a:spcBef>
                  <a:spcPts val="500"/>
                </a:spcBef>
                <a:spcAft>
                  <a:spcPts val="0"/>
                </a:spcAft>
                <a:buNone/>
              </a:pPr>
              <a:r>
                <a:rPr lang="en" sz="3600" b="1">
                  <a:solidFill>
                    <a:srgbClr val="31394D"/>
                  </a:solidFill>
                  <a:latin typeface="Roboto"/>
                  <a:ea typeface="Roboto"/>
                  <a:cs typeface="Roboto"/>
                  <a:sym typeface="Roboto"/>
                </a:rPr>
                <a:t>145</a:t>
              </a:r>
              <a:r>
                <a:rPr lang="en" sz="1400" b="0">
                  <a:solidFill>
                    <a:srgbClr val="64748B"/>
                  </a:solidFill>
                  <a:latin typeface="Roboto"/>
                  <a:ea typeface="Roboto"/>
                  <a:cs typeface="Roboto"/>
                  <a:sym typeface="Roboto"/>
                </a:rPr>
                <a:t> / 190+ countries</a:t>
              </a:r>
              <a:endParaRPr sz="3600" b="1">
                <a:solidFill>
                  <a:srgbClr val="31394D"/>
                </a:solidFill>
                <a:latin typeface="Roboto"/>
                <a:ea typeface="Roboto"/>
                <a:cs typeface="Roboto"/>
                <a:sym typeface="Roboto"/>
              </a:endParaRPr>
            </a:p>
            <a:p>
              <a:pPr marL="0" lvl="0" indent="0" algn="l" rtl="0">
                <a:spcBef>
                  <a:spcPts val="500"/>
                </a:spcBef>
                <a:spcAft>
                  <a:spcPts val="0"/>
                </a:spcAft>
                <a:buNone/>
              </a:pPr>
              <a:r>
                <a:rPr lang="en" sz="1100" b="0">
                  <a:solidFill>
                    <a:srgbClr val="64748B"/>
                  </a:solidFill>
                  <a:latin typeface="Roboto"/>
                  <a:ea typeface="Roboto"/>
                  <a:cs typeface="Roboto"/>
                  <a:sym typeface="Roboto"/>
                </a:rPr>
                <a:t>India's rank in terms of per capita GDP (in $US).</a:t>
              </a:r>
              <a:endParaRPr sz="1100" b="0">
                <a:solidFill>
                  <a:srgbClr val="64748B"/>
                </a:solidFill>
                <a:latin typeface="Roboto"/>
                <a:ea typeface="Roboto"/>
                <a:cs typeface="Roboto"/>
                <a:sym typeface="Roboto"/>
              </a:endParaRPr>
            </a:p>
          </p:txBody>
        </p:sp>
      </p:grpSp>
      <p:grpSp>
        <p:nvGrpSpPr>
          <p:cNvPr id="118" name="Google Shape;118;p20"/>
          <p:cNvGrpSpPr/>
          <p:nvPr/>
        </p:nvGrpSpPr>
        <p:grpSpPr>
          <a:xfrm>
            <a:off x="381000" y="3048000"/>
            <a:ext cx="4095900" cy="1714500"/>
            <a:chOff x="381000" y="3048000"/>
            <a:chExt cx="4095900" cy="1714500"/>
          </a:xfrm>
        </p:grpSpPr>
        <p:sp>
          <p:nvSpPr>
            <p:cNvPr id="119" name="Google Shape;119;p20"/>
            <p:cNvSpPr/>
            <p:nvPr/>
          </p:nvSpPr>
          <p:spPr>
            <a:xfrm>
              <a:off x="381000" y="3048000"/>
              <a:ext cx="4095900" cy="1714500"/>
            </a:xfrm>
            <a:prstGeom prst="roundRect">
              <a:avLst>
                <a:gd name="adj" fmla="val 6666"/>
              </a:avLst>
            </a:prstGeom>
            <a:solidFill>
              <a:srgbClr val="31394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0" name="Google Shape;120;p20"/>
            <p:cNvSpPr txBox="1"/>
            <p:nvPr/>
          </p:nvSpPr>
          <p:spPr>
            <a:xfrm>
              <a:off x="619125" y="3238500"/>
              <a:ext cx="3619500" cy="13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200">
                  <a:solidFill>
                    <a:srgbClr val="CBD5E1"/>
                  </a:solidFill>
                  <a:latin typeface="Roboto"/>
                  <a:ea typeface="Roboto"/>
                  <a:cs typeface="Roboto"/>
                  <a:sym typeface="Roboto"/>
                </a:rPr>
                <a:t>Per Capita GDP (2018-2019)</a:t>
              </a:r>
              <a:endParaRPr sz="1200">
                <a:solidFill>
                  <a:srgbClr val="CBD5E1"/>
                </a:solidFill>
                <a:latin typeface="Roboto"/>
                <a:ea typeface="Roboto"/>
                <a:cs typeface="Roboto"/>
                <a:sym typeface="Roboto"/>
              </a:endParaRPr>
            </a:p>
            <a:p>
              <a:pPr marL="0" lvl="0" indent="0" algn="l" rtl="0">
                <a:spcBef>
                  <a:spcPts val="800"/>
                </a:spcBef>
                <a:spcAft>
                  <a:spcPts val="0"/>
                </a:spcAft>
                <a:buNone/>
              </a:pPr>
              <a:r>
                <a:rPr lang="en" sz="2800" b="1">
                  <a:solidFill>
                    <a:srgbClr val="FFFFFF"/>
                  </a:solidFill>
                  <a:latin typeface="Roboto"/>
                  <a:ea typeface="Roboto"/>
                  <a:cs typeface="Roboto"/>
                  <a:sym typeface="Roboto"/>
                </a:rPr>
                <a:t>$2,104.10 </a:t>
              </a:r>
              <a:r>
                <a:rPr lang="en" sz="1400" b="0">
                  <a:solidFill>
                    <a:srgbClr val="94A3B8"/>
                  </a:solidFill>
                  <a:latin typeface="Roboto"/>
                  <a:ea typeface="Roboto"/>
                  <a:cs typeface="Roboto"/>
                  <a:sym typeface="Roboto"/>
                </a:rPr>
                <a:t>USD</a:t>
              </a:r>
              <a:endParaRPr sz="2800" b="1">
                <a:solidFill>
                  <a:srgbClr val="FFFFFF"/>
                </a:solidFill>
                <a:latin typeface="Roboto"/>
                <a:ea typeface="Roboto"/>
                <a:cs typeface="Roboto"/>
                <a:sym typeface="Roboto"/>
              </a:endParaRPr>
            </a:p>
            <a:p>
              <a:pPr marL="0" lvl="0" indent="0" algn="l" rtl="0">
                <a:spcBef>
                  <a:spcPts val="800"/>
                </a:spcBef>
                <a:spcAft>
                  <a:spcPts val="0"/>
                </a:spcAft>
                <a:buNone/>
              </a:pPr>
              <a:r>
                <a:rPr lang="en" sz="1100" b="0">
                  <a:solidFill>
                    <a:srgbClr val="94A3B8"/>
                  </a:solidFill>
                  <a:latin typeface="Roboto"/>
                  <a:ea typeface="Roboto"/>
                  <a:cs typeface="Roboto"/>
                  <a:sym typeface="Roboto"/>
                </a:rPr>
                <a:t>Equivalent to approximately ₹105,688 INR.</a:t>
              </a:r>
              <a:endParaRPr sz="1100" b="0">
                <a:solidFill>
                  <a:srgbClr val="94A3B8"/>
                </a:solidFill>
                <a:latin typeface="Roboto"/>
                <a:ea typeface="Roboto"/>
                <a:cs typeface="Roboto"/>
                <a:sym typeface="Roboto"/>
              </a:endParaRPr>
            </a:p>
          </p:txBody>
        </p:sp>
      </p:grpSp>
      <p:grpSp>
        <p:nvGrpSpPr>
          <p:cNvPr id="121" name="Google Shape;121;p20"/>
          <p:cNvGrpSpPr/>
          <p:nvPr/>
        </p:nvGrpSpPr>
        <p:grpSpPr>
          <a:xfrm>
            <a:off x="4762500" y="1333500"/>
            <a:ext cx="4000500" cy="1238400"/>
            <a:chOff x="4762500" y="1333500"/>
            <a:chExt cx="4000500" cy="1238400"/>
          </a:xfrm>
        </p:grpSpPr>
        <p:sp>
          <p:nvSpPr>
            <p:cNvPr id="122" name="Google Shape;122;p20"/>
            <p:cNvSpPr/>
            <p:nvPr/>
          </p:nvSpPr>
          <p:spPr>
            <a:xfrm>
              <a:off x="4762500" y="1333500"/>
              <a:ext cx="4000500" cy="1238400"/>
            </a:xfrm>
            <a:prstGeom prst="roundRect">
              <a:avLst>
                <a:gd name="adj" fmla="val 923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3" name="Google Shape;123;p20"/>
            <p:cNvSpPr txBox="1"/>
            <p:nvPr/>
          </p:nvSpPr>
          <p:spPr>
            <a:xfrm>
              <a:off x="4953000" y="1476375"/>
              <a:ext cx="36195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400" b="1">
                  <a:solidFill>
                    <a:srgbClr val="31394D"/>
                  </a:solidFill>
                  <a:latin typeface="Roboto"/>
                  <a:ea typeface="Roboto"/>
                  <a:cs typeface="Roboto"/>
                  <a:sym typeface="Roboto"/>
                </a:rPr>
                <a:t>Pandemic Impact (2020)</a:t>
              </a:r>
              <a:endParaRPr sz="1400" b="1">
                <a:solidFill>
                  <a:srgbClr val="31394D"/>
                </a:solidFill>
                <a:latin typeface="Roboto"/>
                <a:ea typeface="Roboto"/>
                <a:cs typeface="Roboto"/>
                <a:sym typeface="Roboto"/>
              </a:endParaRPr>
            </a:p>
            <a:p>
              <a:pPr marL="0" lvl="0" indent="0" algn="l" rtl="0">
                <a:spcBef>
                  <a:spcPts val="500"/>
                </a:spcBef>
                <a:spcAft>
                  <a:spcPts val="0"/>
                </a:spcAft>
                <a:buNone/>
              </a:pPr>
              <a:r>
                <a:rPr lang="en" sz="2800" b="1">
                  <a:solidFill>
                    <a:srgbClr val="EF4444"/>
                  </a:solidFill>
                  <a:latin typeface="Roboto"/>
                  <a:ea typeface="Roboto"/>
                  <a:cs typeface="Roboto"/>
                  <a:sym typeface="Roboto"/>
                </a:rPr>
                <a:t>-29% </a:t>
              </a:r>
              <a:r>
                <a:rPr lang="en" sz="1400" b="0">
                  <a:solidFill>
                    <a:srgbClr val="64748B"/>
                  </a:solidFill>
                  <a:latin typeface="Roboto"/>
                  <a:ea typeface="Roboto"/>
                  <a:cs typeface="Roboto"/>
                  <a:sym typeface="Roboto"/>
                </a:rPr>
                <a:t>GDP Fall</a:t>
              </a:r>
              <a:endParaRPr sz="2800" b="1">
                <a:solidFill>
                  <a:srgbClr val="EF4444"/>
                </a:solidFill>
                <a:latin typeface="Roboto"/>
                <a:ea typeface="Roboto"/>
                <a:cs typeface="Roboto"/>
                <a:sym typeface="Roboto"/>
              </a:endParaRPr>
            </a:p>
            <a:p>
              <a:pPr marL="0" lvl="0" indent="0" algn="l" rtl="0">
                <a:spcBef>
                  <a:spcPts val="0"/>
                </a:spcBef>
                <a:spcAft>
                  <a:spcPts val="0"/>
                </a:spcAft>
                <a:buNone/>
              </a:pPr>
              <a:r>
                <a:rPr lang="en" sz="1000" b="0">
                  <a:solidFill>
                    <a:srgbClr val="64748B"/>
                  </a:solidFill>
                  <a:latin typeface="Roboto"/>
                  <a:ea typeface="Roboto"/>
                  <a:cs typeface="Roboto"/>
                  <a:sym typeface="Roboto"/>
                </a:rPr>
                <a:t>One of the most significant declines globally.</a:t>
              </a:r>
              <a:endParaRPr sz="1000" b="0">
                <a:solidFill>
                  <a:srgbClr val="64748B"/>
                </a:solidFill>
                <a:latin typeface="Roboto"/>
                <a:ea typeface="Roboto"/>
                <a:cs typeface="Roboto"/>
                <a:sym typeface="Roboto"/>
              </a:endParaRPr>
            </a:p>
          </p:txBody>
        </p:sp>
      </p:grpSp>
      <p:grpSp>
        <p:nvGrpSpPr>
          <p:cNvPr id="124" name="Google Shape;124;p20"/>
          <p:cNvGrpSpPr/>
          <p:nvPr/>
        </p:nvGrpSpPr>
        <p:grpSpPr>
          <a:xfrm>
            <a:off x="4762500" y="2714625"/>
            <a:ext cx="4000500" cy="2047800"/>
            <a:chOff x="4762500" y="2714625"/>
            <a:chExt cx="4000500" cy="2047800"/>
          </a:xfrm>
        </p:grpSpPr>
        <p:sp>
          <p:nvSpPr>
            <p:cNvPr id="125" name="Google Shape;125;p20"/>
            <p:cNvSpPr/>
            <p:nvPr/>
          </p:nvSpPr>
          <p:spPr>
            <a:xfrm>
              <a:off x="4762500" y="2714625"/>
              <a:ext cx="4000500" cy="2047800"/>
            </a:xfrm>
            <a:prstGeom prst="roundRect">
              <a:avLst>
                <a:gd name="adj" fmla="val 5581"/>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26" name="Google Shape;126;p20"/>
            <p:cNvPicPr preferRelativeResize="0"/>
            <p:nvPr/>
          </p:nvPicPr>
          <p:blipFill rotWithShape="1">
            <a:blip r:embed="rId4">
              <a:alphaModFix/>
            </a:blip>
            <a:srcRect l="2299" r="2309"/>
            <a:stretch/>
          </p:blipFill>
          <p:spPr>
            <a:xfrm>
              <a:off x="4857750" y="2809875"/>
              <a:ext cx="3810000" cy="1857300"/>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30"/>
        <p:cNvGrpSpPr/>
        <p:nvPr/>
      </p:nvGrpSpPr>
      <p:grpSpPr>
        <a:xfrm>
          <a:off x="0" y="0"/>
          <a:ext cx="0" cy="0"/>
          <a:chOff x="0" y="0"/>
          <a:chExt cx="0" cy="0"/>
        </a:xfrm>
      </p:grpSpPr>
      <p:sp>
        <p:nvSpPr>
          <p:cNvPr id="131" name="Google Shape;131;p21"/>
          <p:cNvSpPr/>
          <p:nvPr/>
        </p:nvSpPr>
        <p:spPr>
          <a:xfrm>
            <a:off x="0" y="0"/>
            <a:ext cx="9144000" cy="1143000"/>
          </a:xfrm>
          <a:prstGeom prst="rect">
            <a:avLst/>
          </a:prstGeom>
          <a:solidFill>
            <a:srgbClr val="31394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2" name="Google Shape;132;p21"/>
          <p:cNvSpPr txBox="1"/>
          <p:nvPr/>
        </p:nvSpPr>
        <p:spPr>
          <a:xfrm>
            <a:off x="381000" y="0"/>
            <a:ext cx="8382000" cy="1143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3200" b="1">
                <a:solidFill>
                  <a:srgbClr val="FFFFFF"/>
                </a:solidFill>
                <a:latin typeface="Merriweather"/>
                <a:ea typeface="Merriweather"/>
                <a:cs typeface="Merriweather"/>
                <a:sym typeface="Merriweather"/>
              </a:rPr>
              <a:t>Economic Factors Affecting Businesses in India</a:t>
            </a:r>
            <a:endParaRPr sz="3200" b="1">
              <a:solidFill>
                <a:srgbClr val="FFFFFF"/>
              </a:solidFill>
              <a:latin typeface="Merriweather"/>
              <a:ea typeface="Merriweather"/>
              <a:cs typeface="Merriweather"/>
              <a:sym typeface="Merriweather"/>
            </a:endParaRPr>
          </a:p>
        </p:txBody>
      </p:sp>
      <p:grpSp>
        <p:nvGrpSpPr>
          <p:cNvPr id="133" name="Google Shape;133;p21"/>
          <p:cNvGrpSpPr/>
          <p:nvPr/>
        </p:nvGrpSpPr>
        <p:grpSpPr>
          <a:xfrm>
            <a:off x="381000" y="1524000"/>
            <a:ext cx="2667000" cy="3238500"/>
            <a:chOff x="381000" y="1524000"/>
            <a:chExt cx="2667000" cy="3238500"/>
          </a:xfrm>
        </p:grpSpPr>
        <p:sp>
          <p:nvSpPr>
            <p:cNvPr id="134" name="Google Shape;134;p21"/>
            <p:cNvSpPr/>
            <p:nvPr/>
          </p:nvSpPr>
          <p:spPr>
            <a:xfrm>
              <a:off x="381000" y="1524000"/>
              <a:ext cx="2667000" cy="3238500"/>
            </a:xfrm>
            <a:prstGeom prst="roundRect">
              <a:avLst>
                <a:gd name="adj" fmla="val 4285"/>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5" name="Google Shape;135;p21"/>
            <p:cNvSpPr txBox="1"/>
            <p:nvPr/>
          </p:nvSpPr>
          <p:spPr>
            <a:xfrm>
              <a:off x="571500" y="1714500"/>
              <a:ext cx="22860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00" b="1">
                  <a:solidFill>
                    <a:srgbClr val="31394D"/>
                  </a:solidFill>
                  <a:latin typeface="Roboto"/>
                  <a:ea typeface="Roboto"/>
                  <a:cs typeface="Roboto"/>
                  <a:sym typeface="Roboto"/>
                </a:rPr>
                <a:t>Rising Income</a:t>
              </a:r>
              <a:endParaRPr sz="1600" b="1">
                <a:solidFill>
                  <a:srgbClr val="31394D"/>
                </a:solidFill>
                <a:latin typeface="Roboto"/>
                <a:ea typeface="Roboto"/>
                <a:cs typeface="Roboto"/>
                <a:sym typeface="Roboto"/>
              </a:endParaRPr>
            </a:p>
            <a:p>
              <a:pPr marL="0" lvl="0" indent="0" algn="l" rtl="0">
                <a:spcBef>
                  <a:spcPts val="900"/>
                </a:spcBef>
                <a:spcAft>
                  <a:spcPts val="0"/>
                </a:spcAft>
                <a:buNone/>
              </a:pPr>
              <a:r>
                <a:rPr lang="en" sz="1100">
                  <a:solidFill>
                    <a:srgbClr val="64748B"/>
                  </a:solidFill>
                  <a:latin typeface="Roboto"/>
                  <a:ea typeface="Roboto"/>
                  <a:cs typeface="Roboto"/>
                  <a:sym typeface="Roboto"/>
                </a:rPr>
                <a:t>Incomes of Indian families have been rising from previous years which makes it easier for them to afford luxuries and other items.</a:t>
              </a:r>
              <a:endParaRPr sz="1100">
                <a:solidFill>
                  <a:srgbClr val="64748B"/>
                </a:solidFill>
                <a:latin typeface="Roboto"/>
                <a:ea typeface="Roboto"/>
                <a:cs typeface="Roboto"/>
                <a:sym typeface="Roboto"/>
              </a:endParaRPr>
            </a:p>
          </p:txBody>
        </p:sp>
      </p:grpSp>
      <p:grpSp>
        <p:nvGrpSpPr>
          <p:cNvPr id="136" name="Google Shape;136;p21"/>
          <p:cNvGrpSpPr/>
          <p:nvPr/>
        </p:nvGrpSpPr>
        <p:grpSpPr>
          <a:xfrm>
            <a:off x="3238500" y="1524000"/>
            <a:ext cx="2667000" cy="3238500"/>
            <a:chOff x="3238500" y="1524000"/>
            <a:chExt cx="2667000" cy="3238500"/>
          </a:xfrm>
        </p:grpSpPr>
        <p:sp>
          <p:nvSpPr>
            <p:cNvPr id="137" name="Google Shape;137;p21"/>
            <p:cNvSpPr/>
            <p:nvPr/>
          </p:nvSpPr>
          <p:spPr>
            <a:xfrm>
              <a:off x="3238500" y="1524000"/>
              <a:ext cx="2667000" cy="3238500"/>
            </a:xfrm>
            <a:prstGeom prst="roundRect">
              <a:avLst>
                <a:gd name="adj" fmla="val 4285"/>
              </a:avLst>
            </a:prstGeom>
            <a:solidFill>
              <a:srgbClr val="31394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8" name="Google Shape;138;p21"/>
            <p:cNvSpPr txBox="1"/>
            <p:nvPr/>
          </p:nvSpPr>
          <p:spPr>
            <a:xfrm>
              <a:off x="3429000" y="1714500"/>
              <a:ext cx="22860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00" b="1">
                  <a:solidFill>
                    <a:srgbClr val="FFFFFF"/>
                  </a:solidFill>
                  <a:latin typeface="Roboto"/>
                  <a:ea typeface="Roboto"/>
                  <a:cs typeface="Roboto"/>
                  <a:sym typeface="Roboto"/>
                </a:rPr>
                <a:t>GDP &amp; Cost of Living</a:t>
              </a:r>
              <a:endParaRPr sz="1600" b="1">
                <a:solidFill>
                  <a:srgbClr val="FFFFFF"/>
                </a:solidFill>
                <a:latin typeface="Roboto"/>
                <a:ea typeface="Roboto"/>
                <a:cs typeface="Roboto"/>
                <a:sym typeface="Roboto"/>
              </a:endParaRPr>
            </a:p>
            <a:p>
              <a:pPr marL="0" lvl="0" indent="0" algn="l" rtl="0">
                <a:spcBef>
                  <a:spcPts val="900"/>
                </a:spcBef>
                <a:spcAft>
                  <a:spcPts val="0"/>
                </a:spcAft>
                <a:buNone/>
              </a:pPr>
              <a:r>
                <a:rPr lang="en" sz="2400" b="1">
                  <a:solidFill>
                    <a:srgbClr val="FFFFFF"/>
                  </a:solidFill>
                  <a:latin typeface="Roboto"/>
                  <a:ea typeface="Roboto"/>
                  <a:cs typeface="Roboto"/>
                  <a:sym typeface="Roboto"/>
                </a:rPr>
                <a:t>₹105,668</a:t>
              </a:r>
              <a:endParaRPr sz="2400" b="1">
                <a:solidFill>
                  <a:srgbClr val="FFFFFF"/>
                </a:solidFill>
                <a:latin typeface="Roboto"/>
                <a:ea typeface="Roboto"/>
                <a:cs typeface="Roboto"/>
                <a:sym typeface="Roboto"/>
              </a:endParaRPr>
            </a:p>
            <a:p>
              <a:pPr marL="0" lvl="0" indent="0" algn="l" rtl="0">
                <a:spcBef>
                  <a:spcPts val="600"/>
                </a:spcBef>
                <a:spcAft>
                  <a:spcPts val="0"/>
                </a:spcAft>
                <a:buNone/>
              </a:pPr>
              <a:r>
                <a:rPr lang="en" sz="1100">
                  <a:solidFill>
                    <a:srgbClr val="94A3B8"/>
                  </a:solidFill>
                  <a:latin typeface="Roboto"/>
                  <a:ea typeface="Roboto"/>
                  <a:cs typeface="Roboto"/>
                  <a:sym typeface="Roboto"/>
                </a:rPr>
                <a:t>GDP per capita</a:t>
              </a:r>
              <a:endParaRPr sz="1100">
                <a:solidFill>
                  <a:srgbClr val="94A3B8"/>
                </a:solidFill>
                <a:latin typeface="Roboto"/>
                <a:ea typeface="Roboto"/>
                <a:cs typeface="Roboto"/>
                <a:sym typeface="Roboto"/>
              </a:endParaRPr>
            </a:p>
            <a:p>
              <a:pPr marL="0" lvl="0" indent="0" algn="l" rtl="0">
                <a:spcBef>
                  <a:spcPts val="1200"/>
                </a:spcBef>
                <a:spcAft>
                  <a:spcPts val="0"/>
                </a:spcAft>
                <a:buNone/>
              </a:pPr>
              <a:r>
                <a:rPr lang="en" sz="1100">
                  <a:solidFill>
                    <a:srgbClr val="CBD5E1"/>
                  </a:solidFill>
                  <a:latin typeface="Roboto"/>
                  <a:ea typeface="Roboto"/>
                  <a:cs typeface="Roboto"/>
                  <a:sym typeface="Roboto"/>
                </a:rPr>
                <a:t>The cost of living in India is much lower compared to the USA because items are sold at lower rates, leading to higher profits for businesses.</a:t>
              </a:r>
              <a:endParaRPr sz="1100">
                <a:solidFill>
                  <a:srgbClr val="CBD5E1"/>
                </a:solidFill>
                <a:latin typeface="Roboto"/>
                <a:ea typeface="Roboto"/>
                <a:cs typeface="Roboto"/>
                <a:sym typeface="Roboto"/>
              </a:endParaRPr>
            </a:p>
          </p:txBody>
        </p:sp>
      </p:grpSp>
      <p:grpSp>
        <p:nvGrpSpPr>
          <p:cNvPr id="139" name="Google Shape;139;p21"/>
          <p:cNvGrpSpPr/>
          <p:nvPr/>
        </p:nvGrpSpPr>
        <p:grpSpPr>
          <a:xfrm>
            <a:off x="6096000" y="1524000"/>
            <a:ext cx="2667000" cy="3238500"/>
            <a:chOff x="6096000" y="1524000"/>
            <a:chExt cx="2667000" cy="3238500"/>
          </a:xfrm>
        </p:grpSpPr>
        <p:sp>
          <p:nvSpPr>
            <p:cNvPr id="140" name="Google Shape;140;p21"/>
            <p:cNvSpPr/>
            <p:nvPr/>
          </p:nvSpPr>
          <p:spPr>
            <a:xfrm>
              <a:off x="6096000" y="1524000"/>
              <a:ext cx="2667000" cy="3238500"/>
            </a:xfrm>
            <a:prstGeom prst="roundRect">
              <a:avLst>
                <a:gd name="adj" fmla="val 4285"/>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1" name="Google Shape;141;p21"/>
            <p:cNvSpPr txBox="1"/>
            <p:nvPr/>
          </p:nvSpPr>
          <p:spPr>
            <a:xfrm>
              <a:off x="6286500" y="1714500"/>
              <a:ext cx="22860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600" b="1">
                  <a:solidFill>
                    <a:srgbClr val="31394D"/>
                  </a:solidFill>
                  <a:latin typeface="Roboto"/>
                  <a:ea typeface="Roboto"/>
                  <a:cs typeface="Roboto"/>
                  <a:sym typeface="Roboto"/>
                </a:rPr>
                <a:t>Startup Investment</a:t>
              </a:r>
              <a:endParaRPr sz="1600" b="1">
                <a:solidFill>
                  <a:srgbClr val="31394D"/>
                </a:solidFill>
                <a:latin typeface="Roboto"/>
                <a:ea typeface="Roboto"/>
                <a:cs typeface="Roboto"/>
                <a:sym typeface="Roboto"/>
              </a:endParaRPr>
            </a:p>
            <a:p>
              <a:pPr marL="0" lvl="0" indent="0" algn="l" rtl="0">
                <a:spcBef>
                  <a:spcPts val="900"/>
                </a:spcBef>
                <a:spcAft>
                  <a:spcPts val="0"/>
                </a:spcAft>
                <a:buNone/>
              </a:pPr>
              <a:r>
                <a:rPr lang="en" sz="1100">
                  <a:solidFill>
                    <a:srgbClr val="64748B"/>
                  </a:solidFill>
                  <a:latin typeface="Roboto"/>
                  <a:ea typeface="Roboto"/>
                  <a:cs typeface="Roboto"/>
                  <a:sym typeface="Roboto"/>
                </a:rPr>
                <a:t>Investing in small startups is much cheaper in India as the cost of land is also lower compared to developed countries like USA, Great Britain, Australia, and Canada.</a:t>
              </a:r>
              <a:endParaRPr sz="1100">
                <a:solidFill>
                  <a:srgbClr val="64748B"/>
                </a:solidFill>
                <a:latin typeface="Roboto"/>
                <a:ea typeface="Roboto"/>
                <a:cs typeface="Roboto"/>
                <a:sym typeface="Roboto"/>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a:spLocks noGrp="1"/>
          </p:cNvSpPr>
          <p:nvPr>
            <p:ph type="title"/>
          </p:nvPr>
        </p:nvSpPr>
        <p:spPr>
          <a:xfrm>
            <a:off x="311725" y="364325"/>
            <a:ext cx="3749400" cy="43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more positive impacts of Economy on Businesses</a:t>
            </a:r>
            <a:endParaRPr/>
          </a:p>
          <a:p>
            <a:pPr marL="0" lvl="0" indent="0" algn="l" rtl="0">
              <a:spcBef>
                <a:spcPts val="0"/>
              </a:spcBef>
              <a:spcAft>
                <a:spcPts val="0"/>
              </a:spcAft>
              <a:buNone/>
            </a:pPr>
            <a:endParaRPr/>
          </a:p>
          <a:p>
            <a:pPr marL="457200" lvl="0" indent="-406400" algn="l" rtl="0">
              <a:spcBef>
                <a:spcPts val="0"/>
              </a:spcBef>
              <a:spcAft>
                <a:spcPts val="0"/>
              </a:spcAft>
              <a:buSzPts val="2800"/>
              <a:buChar char="●"/>
            </a:pPr>
            <a:r>
              <a:rPr lang="en"/>
              <a:t>Demonetization</a:t>
            </a:r>
            <a:endParaRPr/>
          </a:p>
          <a:p>
            <a:pPr marL="457200" lvl="0" indent="-406400" algn="l" rtl="0">
              <a:spcBef>
                <a:spcPts val="0"/>
              </a:spcBef>
              <a:spcAft>
                <a:spcPts val="0"/>
              </a:spcAft>
              <a:buSzPts val="2800"/>
              <a:buChar char="●"/>
            </a:pPr>
            <a:r>
              <a:rPr lang="en"/>
              <a:t>GST(Goods Services Tax)</a:t>
            </a:r>
            <a:endParaRPr/>
          </a:p>
        </p:txBody>
      </p:sp>
      <p:sp>
        <p:nvSpPr>
          <p:cNvPr id="147" name="Google Shape;147;p22"/>
          <p:cNvSpPr txBox="1">
            <a:spLocks noGrp="1"/>
          </p:cNvSpPr>
          <p:nvPr>
            <p:ph type="body" idx="1"/>
          </p:nvPr>
        </p:nvSpPr>
        <p:spPr>
          <a:xfrm>
            <a:off x="4644675" y="364325"/>
            <a:ext cx="4195800" cy="45006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Demonetization took place in India in year 2016 during August to October months banning old Rs.1000 and Rs 500 notes.</a:t>
            </a:r>
            <a:endParaRPr/>
          </a:p>
          <a:p>
            <a:pPr marL="457200" lvl="0" indent="-311150" algn="l" rtl="0">
              <a:spcBef>
                <a:spcPts val="0"/>
              </a:spcBef>
              <a:spcAft>
                <a:spcPts val="0"/>
              </a:spcAft>
              <a:buSzPts val="1300"/>
              <a:buChar char="●"/>
            </a:pPr>
            <a:r>
              <a:rPr lang="en"/>
              <a:t>This demonetization has led to positive impacts on Indian economy and helped in businesses and entrepreneurs to grow.</a:t>
            </a:r>
            <a:endParaRPr/>
          </a:p>
          <a:p>
            <a:pPr marL="0" lvl="0" indent="0" algn="l" rtl="0">
              <a:spcBef>
                <a:spcPts val="1600"/>
              </a:spcBef>
              <a:spcAft>
                <a:spcPts val="0"/>
              </a:spcAft>
              <a:buNone/>
            </a:pPr>
            <a:endParaRPr/>
          </a:p>
          <a:p>
            <a:pPr marL="457200" lvl="0" indent="-311150" algn="l" rtl="0">
              <a:spcBef>
                <a:spcPts val="1600"/>
              </a:spcBef>
              <a:spcAft>
                <a:spcPts val="0"/>
              </a:spcAft>
              <a:buSzPts val="1300"/>
              <a:buChar char="●"/>
            </a:pPr>
            <a:r>
              <a:rPr lang="en"/>
              <a:t>Government of India introduced GST in 2017 in July.</a:t>
            </a:r>
            <a:endParaRPr/>
          </a:p>
          <a:p>
            <a:pPr marL="457200" lvl="0" indent="-317500" algn="l" rtl="0">
              <a:spcBef>
                <a:spcPts val="0"/>
              </a:spcBef>
              <a:spcAft>
                <a:spcPts val="0"/>
              </a:spcAft>
              <a:buSzPts val="1400"/>
              <a:buChar char="●"/>
            </a:pPr>
            <a:r>
              <a:rPr lang="en">
                <a:solidFill>
                  <a:srgbClr val="525252"/>
                </a:solidFill>
                <a:highlight>
                  <a:srgbClr val="FFFFFF"/>
                </a:highlight>
              </a:rPr>
              <a:t>The biggest benefit of GST is an elimination of multiple indirect taxes. All taxes that currently exist will not be in picture. This means current taxes like excise, octroi, sales tax, CENVAT, Service tax, turnover tax etc will not be applicable and all that will fall under common tax called as GST.</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a:spLocks noGrp="1"/>
          </p:cNvSpPr>
          <p:nvPr>
            <p:ph type="title"/>
          </p:nvPr>
        </p:nvSpPr>
        <p:spPr>
          <a:xfrm>
            <a:off x="311725" y="500925"/>
            <a:ext cx="3738900" cy="416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Negative Impacts of Economic factors on Indian Entrepreneurism</a:t>
            </a:r>
            <a:endParaRPr/>
          </a:p>
        </p:txBody>
      </p:sp>
      <p:sp>
        <p:nvSpPr>
          <p:cNvPr id="153" name="Google Shape;153;p23"/>
          <p:cNvSpPr txBox="1">
            <a:spLocks noGrp="1"/>
          </p:cNvSpPr>
          <p:nvPr>
            <p:ph type="body" idx="1"/>
          </p:nvPr>
        </p:nvSpPr>
        <p:spPr>
          <a:xfrm>
            <a:off x="4644675" y="203600"/>
            <a:ext cx="4302900" cy="46719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Centralization of Economic power in hands of big industrialists is one of the most important factor impacting growth of smaller businesses and entrepreneurs. </a:t>
            </a:r>
            <a:endParaRPr/>
          </a:p>
          <a:p>
            <a:pPr marL="457200" lvl="0" indent="-311150" algn="l" rtl="0">
              <a:spcBef>
                <a:spcPts val="0"/>
              </a:spcBef>
              <a:spcAft>
                <a:spcPts val="0"/>
              </a:spcAft>
              <a:buSzPts val="1300"/>
              <a:buChar char="●"/>
            </a:pPr>
            <a:r>
              <a:rPr lang="en"/>
              <a:t>Red -Tapism due to rules and regulations and lack of incentives and support from government does not lead to growth of Indian entrepreneurs who are new and freshly started </a:t>
            </a:r>
            <a:endParaRPr/>
          </a:p>
          <a:p>
            <a:pPr marL="0" lvl="0" indent="0" algn="l" rtl="0">
              <a:spcBef>
                <a:spcPts val="1600"/>
              </a:spcBef>
              <a:spcAft>
                <a:spcPts val="1600"/>
              </a:spcAft>
              <a:buNone/>
            </a:pPr>
            <a:endParaRPr/>
          </a:p>
        </p:txBody>
      </p:sp>
      <p:pic>
        <p:nvPicPr>
          <p:cNvPr id="154" name="Google Shape;154;p23"/>
          <p:cNvPicPr preferRelativeResize="0"/>
          <p:nvPr/>
        </p:nvPicPr>
        <p:blipFill>
          <a:blip r:embed="rId3">
            <a:alphaModFix/>
          </a:blip>
          <a:stretch>
            <a:fillRect/>
          </a:stretch>
        </p:blipFill>
        <p:spPr>
          <a:xfrm>
            <a:off x="5067325" y="2153846"/>
            <a:ext cx="3457575" cy="2593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Positive Social factors for entrepreneurism in India</a:t>
            </a:r>
            <a:endParaRPr/>
          </a:p>
        </p:txBody>
      </p:sp>
      <p:sp>
        <p:nvSpPr>
          <p:cNvPr id="160" name="Google Shape;160;p24"/>
          <p:cNvSpPr txBox="1">
            <a:spLocks noGrp="1"/>
          </p:cNvSpPr>
          <p:nvPr>
            <p:ph type="body" idx="1"/>
          </p:nvPr>
        </p:nvSpPr>
        <p:spPr>
          <a:xfrm>
            <a:off x="4644675" y="246450"/>
            <a:ext cx="4174200" cy="4639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Education: - In terms of education and knowledge, people in India have very much experience and certified degrees in specific fields which makes them good for entrepreneurship.</a:t>
            </a:r>
            <a:endParaRPr/>
          </a:p>
          <a:p>
            <a:pPr marL="0" lvl="0" indent="0" algn="l" rtl="0">
              <a:spcBef>
                <a:spcPts val="1600"/>
              </a:spcBef>
              <a:spcAft>
                <a:spcPts val="0"/>
              </a:spcAft>
              <a:buNone/>
            </a:pPr>
            <a:r>
              <a:rPr lang="en"/>
              <a:t>Sundar Pichai (CEO of Google) is a graduate from IIT(Indian Institute of Technology) Roorkee and has spoken about learning environment in IIT in his interviews.</a:t>
            </a:r>
            <a:endParaRPr/>
          </a:p>
          <a:p>
            <a:pPr marL="457200" lvl="0" indent="-311150" algn="l" rtl="0">
              <a:spcBef>
                <a:spcPts val="1600"/>
              </a:spcBef>
              <a:spcAft>
                <a:spcPts val="0"/>
              </a:spcAft>
              <a:buSzPts val="1300"/>
              <a:buChar char="●"/>
            </a:pPr>
            <a:r>
              <a:rPr lang="en"/>
              <a:t>Also India is a great place to prosper social relations as Indians place great value on relationships.</a:t>
            </a:r>
            <a:endParaRPr/>
          </a:p>
          <a:p>
            <a:pPr marL="457200" lvl="0" indent="-311150" algn="l" rtl="0">
              <a:spcBef>
                <a:spcPts val="0"/>
              </a:spcBef>
              <a:spcAft>
                <a:spcPts val="0"/>
              </a:spcAft>
              <a:buSzPts val="1300"/>
              <a:buChar char="●"/>
            </a:pPr>
            <a:r>
              <a:rPr lang="en"/>
              <a:t>These relationships are important for successful businesses and their growth.</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5"/>
          <p:cNvSpPr txBox="1">
            <a:spLocks noGrp="1"/>
          </p:cNvSpPr>
          <p:nvPr>
            <p:ph type="title"/>
          </p:nvPr>
        </p:nvSpPr>
        <p:spPr>
          <a:xfrm>
            <a:off x="311725" y="315725"/>
            <a:ext cx="3713700" cy="428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Social factors hindering entrepreneurism in India</a:t>
            </a:r>
            <a:endParaRPr/>
          </a:p>
        </p:txBody>
      </p:sp>
      <p:sp>
        <p:nvSpPr>
          <p:cNvPr id="166" name="Google Shape;166;p25"/>
          <p:cNvSpPr txBox="1">
            <a:spLocks noGrp="1"/>
          </p:cNvSpPr>
          <p:nvPr>
            <p:ph type="body" idx="1"/>
          </p:nvPr>
        </p:nvSpPr>
        <p:spPr>
          <a:xfrm>
            <a:off x="4644675" y="210475"/>
            <a:ext cx="4166400" cy="46173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Traditional Society and superstitions still considers some jobs to be inferiors and act as a barrier in business growth and prosperity.</a:t>
            </a:r>
            <a:endParaRPr/>
          </a:p>
          <a:p>
            <a:pPr marL="457200" lvl="0" indent="-311150" algn="l" rtl="0">
              <a:spcBef>
                <a:spcPts val="0"/>
              </a:spcBef>
              <a:spcAft>
                <a:spcPts val="0"/>
              </a:spcAft>
              <a:buSzPts val="1300"/>
              <a:buChar char="●"/>
            </a:pPr>
            <a:r>
              <a:rPr lang="en"/>
              <a:t>Cultural values in India has not laid much emphasis on economic growth and businesses. People still believe in “Simple living and high thinking”, so many entrepreneurial ideas are affected like branded clothes, fancy dinners with family, going on vacations, watching movies at cinemas, etc.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6"/>
          <p:cNvSpPr txBox="1">
            <a:spLocks noGrp="1"/>
          </p:cNvSpPr>
          <p:nvPr>
            <p:ph type="title"/>
          </p:nvPr>
        </p:nvSpPr>
        <p:spPr>
          <a:xfrm>
            <a:off x="311725" y="500925"/>
            <a:ext cx="3726900" cy="431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Major Social factor affecting entrepreneurial growth  </a:t>
            </a:r>
            <a:endParaRPr/>
          </a:p>
          <a:p>
            <a:pPr marL="0" lvl="0" indent="0" algn="l" rtl="0">
              <a:spcBef>
                <a:spcPts val="0"/>
              </a:spcBef>
              <a:spcAft>
                <a:spcPts val="0"/>
              </a:spcAft>
              <a:buNone/>
            </a:pPr>
            <a:endParaRPr/>
          </a:p>
          <a:p>
            <a:pPr marL="0" lvl="0" indent="0" algn="l" rtl="0">
              <a:spcBef>
                <a:spcPts val="0"/>
              </a:spcBef>
              <a:spcAft>
                <a:spcPts val="0"/>
              </a:spcAft>
              <a:buNone/>
            </a:pPr>
            <a:r>
              <a:rPr lang="en"/>
              <a:t>Society considers women weak</a:t>
            </a:r>
            <a:endParaRPr/>
          </a:p>
        </p:txBody>
      </p:sp>
      <p:sp>
        <p:nvSpPr>
          <p:cNvPr id="172" name="Google Shape;172;p26"/>
          <p:cNvSpPr txBox="1">
            <a:spLocks noGrp="1"/>
          </p:cNvSpPr>
          <p:nvPr>
            <p:ph type="body" idx="1"/>
          </p:nvPr>
        </p:nvSpPr>
        <p:spPr>
          <a:xfrm>
            <a:off x="4644675" y="210475"/>
            <a:ext cx="4166400" cy="46569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Women are often portrayed as weak in Indian society because it is a male dominating society.</a:t>
            </a:r>
            <a:endParaRPr/>
          </a:p>
          <a:p>
            <a:pPr marL="457200" lvl="0" indent="-311150" algn="l" rtl="0">
              <a:spcBef>
                <a:spcPts val="0"/>
              </a:spcBef>
              <a:spcAft>
                <a:spcPts val="0"/>
              </a:spcAft>
              <a:buSzPts val="1300"/>
              <a:buChar char="●"/>
            </a:pPr>
            <a:r>
              <a:rPr lang="en"/>
              <a:t>Due to lack of women participation, there is very less chance of entrepreneurial growth.</a:t>
            </a:r>
            <a:endParaRPr/>
          </a:p>
          <a:p>
            <a:pPr marL="0" lvl="0" indent="0" algn="l" rtl="0">
              <a:spcBef>
                <a:spcPts val="1600"/>
              </a:spcBef>
              <a:spcAft>
                <a:spcPts val="1600"/>
              </a:spcAft>
              <a:buNone/>
            </a:pPr>
            <a:endParaRPr/>
          </a:p>
        </p:txBody>
      </p:sp>
      <p:pic>
        <p:nvPicPr>
          <p:cNvPr id="173" name="Google Shape;173;p26"/>
          <p:cNvPicPr preferRelativeResize="0"/>
          <p:nvPr/>
        </p:nvPicPr>
        <p:blipFill>
          <a:blip r:embed="rId3">
            <a:alphaModFix/>
          </a:blip>
          <a:stretch>
            <a:fillRect/>
          </a:stretch>
        </p:blipFill>
        <p:spPr>
          <a:xfrm>
            <a:off x="4793725" y="1666225"/>
            <a:ext cx="3868300" cy="264009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7"/>
          <p:cNvSpPr txBox="1">
            <a:spLocks noGrp="1"/>
          </p:cNvSpPr>
          <p:nvPr>
            <p:ph type="title"/>
          </p:nvPr>
        </p:nvSpPr>
        <p:spPr>
          <a:xfrm>
            <a:off x="311725" y="500925"/>
            <a:ext cx="3696000" cy="42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Famous Entrepreneurs impacting country </a:t>
            </a:r>
            <a:endParaRPr/>
          </a:p>
        </p:txBody>
      </p:sp>
      <p:sp>
        <p:nvSpPr>
          <p:cNvPr id="179" name="Google Shape;179;p27"/>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p>
            <a:pPr marL="457200" lvl="0" indent="-374650" algn="l" rtl="0">
              <a:spcBef>
                <a:spcPts val="0"/>
              </a:spcBef>
              <a:spcAft>
                <a:spcPts val="0"/>
              </a:spcAft>
              <a:buSzPts val="2300"/>
              <a:buChar char="●"/>
            </a:pPr>
            <a:r>
              <a:rPr lang="en" sz="2300"/>
              <a:t>Mukesh Ambani </a:t>
            </a:r>
            <a:endParaRPr sz="2300"/>
          </a:p>
          <a:p>
            <a:pPr marL="457200" lvl="0" indent="-374650" algn="l" rtl="0">
              <a:spcBef>
                <a:spcPts val="0"/>
              </a:spcBef>
              <a:spcAft>
                <a:spcPts val="0"/>
              </a:spcAft>
              <a:buSzPts val="2300"/>
              <a:buChar char="●"/>
            </a:pPr>
            <a:r>
              <a:rPr lang="en" sz="2300"/>
              <a:t>Azim Premji</a:t>
            </a:r>
            <a:endParaRPr sz="2300"/>
          </a:p>
          <a:p>
            <a:pPr marL="457200" lvl="0" indent="-374650" algn="l" rtl="0">
              <a:spcBef>
                <a:spcPts val="0"/>
              </a:spcBef>
              <a:spcAft>
                <a:spcPts val="0"/>
              </a:spcAft>
              <a:buSzPts val="2300"/>
              <a:buChar char="●"/>
            </a:pPr>
            <a:r>
              <a:rPr lang="en" sz="2300"/>
              <a:t>Akhila Srinivasan</a:t>
            </a:r>
            <a:endParaRPr sz="2300"/>
          </a:p>
          <a:p>
            <a:pPr marL="457200" lvl="0" indent="-374650" algn="l" rtl="0">
              <a:spcBef>
                <a:spcPts val="0"/>
              </a:spcBef>
              <a:spcAft>
                <a:spcPts val="0"/>
              </a:spcAft>
              <a:buSzPts val="2300"/>
              <a:buChar char="●"/>
            </a:pPr>
            <a:r>
              <a:rPr lang="en" sz="2300"/>
              <a:t>Kumar Mangalam Birla</a:t>
            </a:r>
            <a:endParaRPr sz="2300"/>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723</Words>
  <Application>Microsoft Macintosh PowerPoint</Application>
  <PresentationFormat>On-screen Show (16:9)</PresentationFormat>
  <Paragraphs>65</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Roboto Light</vt:lpstr>
      <vt:lpstr>Roboto</vt:lpstr>
      <vt:lpstr>Merriweather</vt:lpstr>
      <vt:lpstr>Paradigm</vt:lpstr>
      <vt:lpstr>PowerPoint Presentation</vt:lpstr>
      <vt:lpstr>Introduction</vt:lpstr>
      <vt:lpstr>Human Development Index (HDI)</vt:lpstr>
      <vt:lpstr>PowerPoint Presentation</vt:lpstr>
      <vt:lpstr>PowerPoint Presentation</vt:lpstr>
      <vt:lpstr>Some more positive impacts of Economy on Businesses  Demonetization GST(Goods Services Tax)</vt:lpstr>
      <vt:lpstr>Negative Impacts of Economic factors on Indian Entrepreneurism</vt:lpstr>
      <vt:lpstr>Positive Social factors for entrepreneurism in India</vt:lpstr>
      <vt:lpstr>Social factors hindering entrepreneurism in India</vt:lpstr>
      <vt:lpstr>Major Social factor affecting entrepreneurial growth    Society considers women weak</vt:lpstr>
      <vt:lpstr>Famous Entrepreneurs impacting country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Yogesh Sharma</cp:lastModifiedBy>
  <cp:revision>1</cp:revision>
  <dcterms:modified xsi:type="dcterms:W3CDTF">2026-04-01T12:48:33Z</dcterms:modified>
</cp:coreProperties>
</file>